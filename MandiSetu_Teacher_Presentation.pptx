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6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143000"/>
            <a:ext cx="914400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MANDISETU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0"/>
            <a:ext cx="91440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0">
                <a:solidFill>
                  <a:srgbClr val="DCF0E0"/>
                </a:solidFill>
              </a:defRPr>
            </a:pPr>
            <a:r>
              <a:t>Market Intelligence &amp; Transaction Enablement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108960"/>
            <a:ext cx="91440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800" b="0">
                <a:solidFill>
                  <a:srgbClr val="F0F7F0"/>
                </a:solidFill>
              </a:defRPr>
            </a:pPr>
            <a:r>
              <a:t>A bridge between farm-gate produce and fair market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846320"/>
            <a:ext cx="73152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1">
                <a:solidFill>
                  <a:srgbClr val="F0D282"/>
                </a:solidFill>
              </a:defRPr>
            </a:pPr>
            <a:r>
              <a:t>React • Node.js / Express •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126480"/>
            <a:ext cx="91440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0">
                <a:solidFill>
                  <a:srgbClr val="DCF0E0"/>
                </a:solidFill>
              </a:defRPr>
            </a:pPr>
            <a:r>
              <a:t>Sample data; live feeds and ML are not connected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17633F"/>
                </a:solidFill>
              </a:defRPr>
            </a:pPr>
            <a:r>
              <a:t>1.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78992"/>
            <a:ext cx="1097280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0">
                <a:solidFill>
                  <a:srgbClr val="647668"/>
                </a:solidFill>
              </a:defRPr>
            </a:pPr>
            <a:r>
              <a:t>Farmers need more than a headline price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98480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223528"/>
                </a:solidFill>
              </a:defRPr>
            </a:pPr>
            <a:r>
              <a:t>•  Selling decisions must account for transport, commission, storage and risk.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42032"/>
            <a:ext cx="10698480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223528"/>
                </a:solidFill>
              </a:defRPr>
            </a:pPr>
            <a:r>
              <a:t>•  Market information and buyer trust can be fragmented.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55264"/>
            <a:ext cx="10698480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223528"/>
                </a:solidFill>
              </a:defRPr>
            </a:pPr>
            <a:r>
              <a:t>•  FPOs need to aggregate produce and reach bulk buyers.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68496"/>
            <a:ext cx="10698480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223528"/>
                </a:solidFill>
              </a:defRPr>
            </a:pPr>
            <a:r>
              <a:t>•  MandiSetu connects market intelligence with trusted transaction workflows.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00" b="1">
                <a:solidFill>
                  <a:srgbClr val="647668"/>
                </a:solidFill>
              </a:defRPr>
            </a:pPr>
            <a:r>
              <a:t>MANDISETU  •  ACADEMIC PROTOTYPE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17633F"/>
                </a:solidFill>
              </a:defRPr>
            </a:pPr>
            <a:r>
              <a:t>2. MandiSetu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78992"/>
            <a:ext cx="1097280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0">
                <a:solidFill>
                  <a:srgbClr val="647668"/>
                </a:solidFill>
              </a:defRPr>
            </a:pPr>
            <a:r>
              <a:t>Intelligence + net realization +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98480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223528"/>
                </a:solidFill>
              </a:defRPr>
            </a:pPr>
            <a:r>
              <a:t>•  Aggregate live and historical mandi prices with source and timestamps.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42032"/>
            <a:ext cx="10698480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223528"/>
                </a:solidFill>
              </a:defRPr>
            </a:pPr>
            <a:r>
              <a:t>•  Forecast short-term trends and suggest possible sale windows.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55264"/>
            <a:ext cx="10698480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223528"/>
                </a:solidFill>
              </a:defRPr>
            </a:pPr>
            <a:r>
              <a:t>•  Compare offers using net realization after all selling costs.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68496"/>
            <a:ext cx="10698480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223528"/>
                </a:solidFill>
              </a:defRPr>
            </a:pPr>
            <a:r>
              <a:t>•  Support lots, quality details, buyer verification, FPO aggregation, logistics and disputes.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00" b="1">
                <a:solidFill>
                  <a:srgbClr val="647668"/>
                </a:solidFill>
              </a:defRPr>
            </a:pPr>
            <a:r>
              <a:t>MANDISETU  •  ACADEMIC PROTOTYPE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17633F"/>
                </a:solidFill>
              </a:defRPr>
            </a:pPr>
            <a:r>
              <a:t>3. Website pages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78992"/>
            <a:ext cx="1097280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0">
                <a:solidFill>
                  <a:srgbClr val="647668"/>
                </a:solidFill>
              </a:defRPr>
            </a:pPr>
            <a:r>
              <a:t>The redesigned prototype is branded MandiSetu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98480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223528"/>
                </a:solidFill>
              </a:defRPr>
            </a:pPr>
            <a:r>
              <a:t>•  Market Overview and Market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42032"/>
            <a:ext cx="10698480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223528"/>
                </a:solidFill>
              </a:defRPr>
            </a:pPr>
            <a:r>
              <a:t>•  Sell-Time Advisor and Net Realization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55264"/>
            <a:ext cx="10698480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223528"/>
                </a:solidFill>
              </a:defRPr>
            </a:pPr>
            <a:r>
              <a:t>•  Digital Lots &amp; Quality and Buyer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68496"/>
            <a:ext cx="10698480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223528"/>
                </a:solidFill>
              </a:defRPr>
            </a:pPr>
            <a:r>
              <a:t>•  FPO Aggregation and Logistics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81728"/>
            <a:ext cx="10698480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223528"/>
                </a:solidFill>
              </a:defRPr>
            </a:pPr>
            <a:r>
              <a:t>•  Transactions &amp; Disputes and Admin &amp; Trust Center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00" b="1">
                <a:solidFill>
                  <a:srgbClr val="647668"/>
                </a:solidFill>
              </a:defRPr>
            </a:pPr>
            <a:r>
              <a:t>MANDISETU  •  ACADEMIC PROTOTYPE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17633F"/>
                </a:solidFill>
              </a:defRPr>
            </a:pPr>
            <a:r>
              <a:t>4.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78992"/>
            <a:ext cx="1097280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0">
                <a:solidFill>
                  <a:srgbClr val="647668"/>
                </a:solidFill>
              </a:defRPr>
            </a:pPr>
            <a:r>
              <a:t>Frontend → API → database (connection remains future work)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98480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223528"/>
                </a:solidFill>
              </a:defRPr>
            </a:pPr>
            <a:r>
              <a:t>•  React + Vite: responsive screens, forms, local prototype state.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42032"/>
            <a:ext cx="10698480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223528"/>
                </a:solidFill>
              </a:defRPr>
            </a:pPr>
            <a:r>
              <a:t>•  Node.js + Express: REST API starter and validation.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55264"/>
            <a:ext cx="10698480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223528"/>
                </a:solidFill>
              </a:defRPr>
            </a:pPr>
            <a:r>
              <a:t>•  MySQL: lots, prices, forecasts, buyers, FPOs, transactions and disputes.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68496"/>
            <a:ext cx="10698480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223528"/>
                </a:solidFill>
              </a:defRPr>
            </a:pPr>
            <a:r>
              <a:t>•  Future: official market data, Python ML, maps/logistics and secure payment provider.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00" b="1">
                <a:solidFill>
                  <a:srgbClr val="647668"/>
                </a:solidFill>
              </a:defRPr>
            </a:pPr>
            <a:r>
              <a:t>MANDISETU  •  ACADEMIC PROTOTYPE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17633F"/>
                </a:solidFill>
              </a:defRPr>
            </a:pPr>
            <a:r>
              <a:t>5. Net realization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78992"/>
            <a:ext cx="1097280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0">
                <a:solidFill>
                  <a:srgbClr val="647668"/>
                </a:solidFill>
              </a:defRPr>
            </a:pPr>
            <a:r>
              <a:t>Headline price is not the same as take-home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98480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223528"/>
                </a:solidFill>
              </a:defRPr>
            </a:pPr>
            <a:r>
              <a:t>•  Gross value = quantity × offer price.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42032"/>
            <a:ext cx="10698480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223528"/>
                </a:solidFill>
              </a:defRPr>
            </a:pPr>
            <a:r>
              <a:t>•  Net realization = gross − transport − commission − storage − other costs.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55264"/>
            <a:ext cx="10698480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223528"/>
                </a:solidFill>
              </a:defRPr>
            </a:pPr>
            <a:r>
              <a:t>•  Compare net proceeds across buyers and markets.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68496"/>
            <a:ext cx="10698480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223528"/>
                </a:solidFill>
              </a:defRPr>
            </a:pPr>
            <a:r>
              <a:t>•  Current calculator works locally; results are not persisted.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00" b="1">
                <a:solidFill>
                  <a:srgbClr val="647668"/>
                </a:solidFill>
              </a:defRPr>
            </a:pPr>
            <a:r>
              <a:t>MANDISETU  •  ACADEMIC PROTOTYPE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17633F"/>
                </a:solidFill>
              </a:defRPr>
            </a:pPr>
            <a:r>
              <a:t>6. Sell-time advisor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78992"/>
            <a:ext cx="1097280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0">
                <a:solidFill>
                  <a:srgbClr val="647668"/>
                </a:solidFill>
              </a:defRPr>
            </a:pPr>
            <a:r>
              <a:t>Scenario comparison, not an ML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98480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223528"/>
                </a:solidFill>
              </a:defRPr>
            </a:pPr>
            <a:r>
              <a:t>•  Compare sell-now price with a user-entered possible later price.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42032"/>
            <a:ext cx="10698480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223528"/>
                </a:solidFill>
              </a:defRPr>
            </a:pPr>
            <a:r>
              <a:t>•  Subtract additional holding/storage costs.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55264"/>
            <a:ext cx="10698480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223528"/>
                </a:solidFill>
              </a:defRPr>
            </a:pPr>
            <a:r>
              <a:t>•  A future model should use validated history and display uncertainty.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68496"/>
            <a:ext cx="10698480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223528"/>
                </a:solidFill>
              </a:defRPr>
            </a:pPr>
            <a:r>
              <a:t>•  The prototype does not guarantee or predict real market prices.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00" b="1">
                <a:solidFill>
                  <a:srgbClr val="647668"/>
                </a:solidFill>
              </a:defRPr>
            </a:pPr>
            <a:r>
              <a:t>MANDISETU  •  ACADEMIC PROTOTYPE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17633F"/>
                </a:solidFill>
              </a:defRPr>
            </a:pPr>
            <a:r>
              <a:t>7. Trust &amp; FPO aggregation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78992"/>
            <a:ext cx="1097280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0">
                <a:solidFill>
                  <a:srgbClr val="647668"/>
                </a:solidFill>
              </a:defRPr>
            </a:pPr>
            <a:r>
              <a:t>Build trust with evidence and transparent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98480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223528"/>
                </a:solidFill>
              </a:defRPr>
            </a:pPr>
            <a:r>
              <a:t>•  Buyer verification needs a real evidence-review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42032"/>
            <a:ext cx="10698480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223528"/>
                </a:solidFill>
              </a:defRPr>
            </a:pPr>
            <a:r>
              <a:t>•  Reliability indicators must be explainable, fair and appealable.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55264"/>
            <a:ext cx="10698480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223528"/>
                </a:solidFill>
              </a:defRPr>
            </a:pPr>
            <a:r>
              <a:t>•  FPO aggregation should record member lots, quantity and consent.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68496"/>
            <a:ext cx="10698480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223528"/>
                </a:solidFill>
              </a:defRPr>
            </a:pPr>
            <a:r>
              <a:t>•  Current buyer scores and aggregation are illustrative demo features.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00" b="1">
                <a:solidFill>
                  <a:srgbClr val="647668"/>
                </a:solidFill>
              </a:defRPr>
            </a:pPr>
            <a:r>
              <a:t>MANDISETU  •  ACADEMIC PROTOTYPE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17633F"/>
                </a:solidFill>
              </a:defRPr>
            </a:pPr>
            <a:r>
              <a:t>8. Transactions, logistics &amp; disputes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78992"/>
            <a:ext cx="1097280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0">
                <a:solidFill>
                  <a:srgbClr val="647668"/>
                </a:solidFill>
              </a:defRPr>
            </a:pPr>
            <a:r>
              <a:t>Track the lifecycle without claiming real payment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98480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223528"/>
                </a:solidFill>
              </a:defRPr>
            </a:pPr>
            <a:r>
              <a:t>•  Demo orders and status changes work in browser state.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42032"/>
            <a:ext cx="10698480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223528"/>
                </a:solidFill>
              </a:defRPr>
            </a:pPr>
            <a:r>
              <a:t>•  Dispute form creates a local demo case.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55264"/>
            <a:ext cx="10698480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223528"/>
                </a:solidFill>
              </a:defRPr>
            </a:pPr>
            <a:r>
              <a:t>•  No live carrier quotes, GPS, payments or persistent transaction ledger.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68496"/>
            <a:ext cx="10698480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223528"/>
                </a:solidFill>
              </a:defRPr>
            </a:pPr>
            <a:r>
              <a:t>•  Production needs secure role checks, evidence and audit logs.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00" b="1">
                <a:solidFill>
                  <a:srgbClr val="647668"/>
                </a:solidFill>
              </a:defRPr>
            </a:pPr>
            <a:r>
              <a:t>MANDISETU  •  ACADEMIC PROTOTYPE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17633F"/>
                </a:solidFill>
              </a:defRPr>
            </a:pPr>
            <a:r>
              <a:t>9. Implemented vs simulated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78992"/>
            <a:ext cx="1097280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0">
                <a:solidFill>
                  <a:srgbClr val="647668"/>
                </a:solidFill>
              </a:defRPr>
            </a:pPr>
            <a:r>
              <a:t>Be transparent in the classroom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98480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223528"/>
                </a:solidFill>
              </a:defRPr>
            </a:pPr>
            <a:r>
              <a:t>•  Implemented: navigation, lot search/create, cost calculator and local workflows.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42032"/>
            <a:ext cx="10698480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223528"/>
                </a:solidFill>
              </a:defRPr>
            </a:pPr>
            <a:r>
              <a:t>•  Simulated: market prices/history, reliability scores, verification and logistics.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55264"/>
            <a:ext cx="10698480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223528"/>
                </a:solidFill>
              </a:defRPr>
            </a:pPr>
            <a:r>
              <a:t>•  Not implemented: trained ML, live feeds, actual verification or payments.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68496"/>
            <a:ext cx="10698480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223528"/>
                </a:solidFill>
              </a:defRPr>
            </a:pPr>
            <a:r>
              <a:t>•  Express API and MySQL schema are starter files; frontend integration is pending.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00" b="1">
                <a:solidFill>
                  <a:srgbClr val="647668"/>
                </a:solidFill>
              </a:defRPr>
            </a:pPr>
            <a:r>
              <a:t>MANDISETU  •  ACADEMIC PROTOTYPE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17633F"/>
                </a:solidFill>
              </a:defRPr>
            </a:pPr>
            <a:r>
              <a:t>10. Testing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78992"/>
            <a:ext cx="1097280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0">
                <a:solidFill>
                  <a:srgbClr val="647668"/>
                </a:solidFill>
              </a:defRPr>
            </a:pPr>
            <a:r>
              <a:t>A realistic 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98480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223528"/>
                </a:solidFill>
              </a:defRPr>
            </a:pPr>
            <a:r>
              <a:t>•  Test lot creation, search/filter, cost inputs, scenario comparison and dispute submission.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42032"/>
            <a:ext cx="10698480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223528"/>
                </a:solidFill>
              </a:defRPr>
            </a:pPr>
            <a:r>
              <a:t>•  Integrate permitted official mandi data and validate forecast accuracy.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55264"/>
            <a:ext cx="10698480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223528"/>
                </a:solidFill>
              </a:defRPr>
            </a:pPr>
            <a:r>
              <a:t>•  Add buyer verification, persistent FPO aggregation and transaction records.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68496"/>
            <a:ext cx="10698480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223528"/>
                </a:solidFill>
              </a:defRPr>
            </a:pPr>
            <a:r>
              <a:t>•  Implement secure authentication, payment-provider checkout and audit trail.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00" b="1">
                <a:solidFill>
                  <a:srgbClr val="647668"/>
                </a:solidFill>
              </a:defRPr>
            </a:pPr>
            <a:r>
              <a:t>MANDISETU  •  ACADEMIC PROTOTYPE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